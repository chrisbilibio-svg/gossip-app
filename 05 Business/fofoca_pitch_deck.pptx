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731520"/>
            <a:ext cx="2926080" cy="2926080"/>
          </a:xfrm>
          <a:prstGeom prst="ellipse">
            <a:avLst/>
          </a:prstGeom>
          <a:solidFill>
            <a:srgbClr val="FF4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389120"/>
            <a:ext cx="1920240" cy="1920240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212080"/>
            <a:ext cx="1554480" cy="1554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9436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600" b="1">
                <a:solidFill>
                  <a:srgbClr val="FFD43B"/>
                </a:solidFill>
                <a:latin typeface="Aptos Display"/>
              </a:rPr>
              <a:t>Fofoca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5943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0">
                <a:solidFill>
                  <a:srgbClr val="FFFFFF"/>
                </a:solidFill>
                <a:latin typeface="Aptos"/>
              </a:rPr>
              <a:t>Brazil’s gossip prediction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6583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Curated rumors → crowd predicts TEA/CAP → credible sources resolve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4754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7A7290"/>
                </a:solidFill>
                <a:latin typeface="Aptos"/>
              </a:rPr>
              <a:t>Investor narrative + financial model v0.1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4D9D"/>
                </a:solidFill>
                <a:latin typeface="Aptos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1A1626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A7290"/>
                </a:solidFill>
                <a:latin typeface="Aptos"/>
              </a:rPr>
              <a:t>Brazilian gossip attention is massive but fragmented</a:t>
            </a:r>
          </a:p>
        </p:txBody>
      </p:sp>
      <p:sp>
        <p:nvSpPr>
          <p:cNvPr id="5" name="Oval 4"/>
          <p:cNvSpPr/>
          <p:nvPr/>
        </p:nvSpPr>
        <p:spPr>
          <a:xfrm>
            <a:off x="7955279" y="960120"/>
            <a:ext cx="1234440" cy="1234440"/>
          </a:xfrm>
          <a:prstGeom prst="ellipse">
            <a:avLst/>
          </a:prstGeom>
          <a:solidFill>
            <a:srgbClr val="FF4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2011680"/>
            <a:ext cx="1508760" cy="1508760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379476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4663440"/>
            <a:ext cx="777240" cy="7772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Fans chase rumors across Instagram, X, blogs, TV, and group chats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Rumor vs confirmed fact is blurry, reducing trust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Reading gossip is passive; nothing rewards being early or 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4D9D"/>
                </a:solidFill>
                <a:latin typeface="Aptos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1A1626"/>
                </a:solidFill>
                <a:latin typeface="Aptos Display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A7290"/>
                </a:solidFill>
                <a:latin typeface="Aptos"/>
              </a:rPr>
              <a:t>The truth filter can become the game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777240"/>
            <a:ext cx="45262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170432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7A7290"/>
                </a:solidFill>
                <a:latin typeface="Aptos Display"/>
              </a:rPr>
              <a:t>SPECULATED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00200"/>
            <a:ext cx="3383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1A1626"/>
                </a:solidFill>
                <a:latin typeface="Aptos Display"/>
              </a:rPr>
              <a:t>Will it be TEA or CAP?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514600"/>
            <a:ext cx="214884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0" y="2514600"/>
            <a:ext cx="1325880" cy="502920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2624328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🍵 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624328"/>
            <a:ext cx="8229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38% 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749039"/>
            <a:ext cx="34747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1A1626"/>
                </a:solidFill>
                <a:latin typeface="Aptos"/>
              </a:rPr>
              <a:t>Resolved by credible evidence</a:t>
            </a:r>
            <a:br/>
            <a:r>
              <a:t>→ points + rank movement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Every Speculated rumor is an open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The crowd does not claim facts; it expresses probabilities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When evidence lands, correct callers get status and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4D9D"/>
                </a:solidFill>
                <a:latin typeface="Aptos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1A1626"/>
                </a:solidFill>
                <a:latin typeface="Aptos Display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A7290"/>
                </a:solidFill>
                <a:latin typeface="Aptos"/>
              </a:rPr>
              <a:t>A daily loop built around open bets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777240"/>
            <a:ext cx="45262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1143000"/>
            <a:ext cx="3291840" cy="658368"/>
          </a:xfrm>
          <a:prstGeom prst="roundRect">
            <a:avLst/>
          </a:prstGeom>
          <a:solidFill>
            <a:srgbClr val="FFFBF5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1280160"/>
            <a:ext cx="292608" cy="292608"/>
          </a:xfrm>
          <a:prstGeom prst="ellipse">
            <a:avLst/>
          </a:prstGeom>
          <a:solidFill>
            <a:srgbClr val="FF4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252728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A1626"/>
                </a:solidFill>
                <a:latin typeface="Aptos Display"/>
              </a:rPr>
              <a:t>1 Curate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084832"/>
            <a:ext cx="3291840" cy="658368"/>
          </a:xfrm>
          <a:prstGeom prst="roundRect">
            <a:avLst/>
          </a:prstGeom>
          <a:solidFill>
            <a:srgbClr val="FFFBF5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43800" y="2221991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194560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A1626"/>
                </a:solidFill>
                <a:latin typeface="Aptos Display"/>
              </a:rPr>
              <a:t>2 Predict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026664"/>
            <a:ext cx="3291840" cy="658368"/>
          </a:xfrm>
          <a:prstGeom prst="roundRect">
            <a:avLst/>
          </a:prstGeom>
          <a:solidFill>
            <a:srgbClr val="FFFBF5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43800" y="3163824"/>
            <a:ext cx="292608" cy="292608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136392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A1626"/>
                </a:solidFill>
                <a:latin typeface="Aptos Display"/>
              </a:rPr>
              <a:t>3 Resolve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968496"/>
            <a:ext cx="3291840" cy="658368"/>
          </a:xfrm>
          <a:prstGeom prst="roundRect">
            <a:avLst/>
          </a:prstGeom>
          <a:solidFill>
            <a:srgbClr val="FFFBF5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43800" y="4105656"/>
            <a:ext cx="292608" cy="29260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4078224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A1626"/>
                </a:solidFill>
                <a:latin typeface="Aptos Display"/>
              </a:rPr>
              <a:t>4 Rank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1+6 curated daily format: one hero “Fofoca do Dia” plus supporting rumors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Tap 🍵 TEA or 🧢 CAP, lock the call, reveal the crowd split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Resolution payoff: points, rank movement, and bragging rights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4D9D"/>
                </a:solidFill>
                <a:latin typeface="Aptos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1A1626"/>
                </a:solidFill>
                <a:latin typeface="Aptos Display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A7290"/>
                </a:solidFill>
                <a:latin typeface="Aptos"/>
              </a:rPr>
              <a:t>Brazil is primed for this mechanic</a:t>
            </a:r>
          </a:p>
        </p:txBody>
      </p:sp>
      <p:sp>
        <p:nvSpPr>
          <p:cNvPr id="5" name="Oval 4"/>
          <p:cNvSpPr/>
          <p:nvPr/>
        </p:nvSpPr>
        <p:spPr>
          <a:xfrm>
            <a:off x="7955279" y="960120"/>
            <a:ext cx="1234440" cy="1234440"/>
          </a:xfrm>
          <a:prstGeom prst="ellipse">
            <a:avLst/>
          </a:prstGeom>
          <a:solidFill>
            <a:srgbClr val="FF4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2011680"/>
            <a:ext cx="1508760" cy="1508760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379476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4663440"/>
            <a:ext cx="777240" cy="7772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Mobile-native celebrity/fandom culture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Palpite/betting behavior makes prediction intuitive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AI makes summaries and curation leverage cheap, but humans keep legal judgment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D43B"/>
                </a:solidFill>
                <a:latin typeface="Aptos Display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 Display"/>
              </a:rPr>
              <a:t>Market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FFD43B"/>
                </a:solidFill>
                <a:latin typeface="Aptos"/>
              </a:rPr>
              <a:t>Start narrow, become the default gossip game</a:t>
            </a:r>
          </a:p>
        </p:txBody>
      </p:sp>
      <p:sp>
        <p:nvSpPr>
          <p:cNvPr id="5" name="Oval 4"/>
          <p:cNvSpPr/>
          <p:nvPr/>
        </p:nvSpPr>
        <p:spPr>
          <a:xfrm>
            <a:off x="7955279" y="960120"/>
            <a:ext cx="1234440" cy="1234440"/>
          </a:xfrm>
          <a:prstGeom prst="ellipse">
            <a:avLst/>
          </a:prstGeom>
          <a:solidFill>
            <a:srgbClr val="FF4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2011680"/>
            <a:ext cx="1508760" cy="1508760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379476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4663440"/>
            <a:ext cx="777240" cy="7772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1A1626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FFFFF"/>
                </a:solidFill>
                <a:latin typeface="Aptos"/>
              </a:rPr>
              <a:t>• Beachhead: dense communities around reality shows, celebrity couples, football transfers, or creator ecosystems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1A1626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FFFFF"/>
                </a:solidFill>
                <a:latin typeface="Aptos"/>
              </a:rPr>
              <a:t>• Win on daily habit before broad aggregation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1A1626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FFFFF"/>
                </a:solidFill>
                <a:latin typeface="Aptos"/>
              </a:rPr>
              <a:t>• Expansion path: broader entertainment, sports rumors, viral news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4D9D"/>
                </a:solidFill>
                <a:latin typeface="Aptos Display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1A1626"/>
                </a:solidFill>
                <a:latin typeface="Aptos Display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A7290"/>
                </a:solidFill>
                <a:latin typeface="Aptos"/>
              </a:rPr>
              <a:t>Do not bet the company on 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777240"/>
            <a:ext cx="45262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0" y="1143000"/>
            <a:ext cx="3474720" cy="777240"/>
          </a:xfrm>
          <a:prstGeom prst="roundRect">
            <a:avLst/>
          </a:prstGeom>
          <a:solidFill>
            <a:srgbClr val="FFFBF5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261872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A1626"/>
                </a:solidFill>
                <a:latin typeface="Aptos Display"/>
              </a:rPr>
              <a:t>Free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289304"/>
            <a:ext cx="1463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7A7290"/>
                </a:solidFill>
                <a:latin typeface="Aptos"/>
              </a:rPr>
              <a:t>liquidity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331720"/>
            <a:ext cx="3474720" cy="777240"/>
          </a:xfrm>
          <a:prstGeom prst="roundRect">
            <a:avLst/>
          </a:prstGeom>
          <a:solidFill>
            <a:srgbClr val="FFFBF5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450591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A1626"/>
                </a:solidFill>
                <a:latin typeface="Aptos Display"/>
              </a:rP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478024"/>
            <a:ext cx="1463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7A7290"/>
                </a:solidFill>
                <a:latin typeface="Aptos"/>
              </a:rPr>
              <a:t>speed/status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520440"/>
            <a:ext cx="3474720" cy="777240"/>
          </a:xfrm>
          <a:prstGeom prst="roundRect">
            <a:avLst/>
          </a:prstGeom>
          <a:solidFill>
            <a:srgbClr val="FFFBF5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3639312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A1626"/>
                </a:solidFill>
                <a:latin typeface="Aptos Display"/>
              </a:rPr>
              <a:t>Pulse 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666744"/>
            <a:ext cx="1463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7A7290"/>
                </a:solidFill>
                <a:latin typeface="Aptos"/>
              </a:rPr>
              <a:t>trend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Free core game: maximum liquidity and habit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Pro: early alerts, advanced stats, custom persona/status cosmetics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Gossip Pulse: anonymized aggregate belief/trend dashboard for media and creators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4D9D"/>
                </a:solidFill>
                <a:latin typeface="Aptos Display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1A1626"/>
                </a:solidFill>
                <a:latin typeface="Aptos Display"/>
              </a:rPr>
              <a:t>Traction / build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A7290"/>
                </a:solidFill>
                <a:latin typeface="Aptos"/>
              </a:rPr>
              <a:t>The v1 product is already code-complete enough to test</a:t>
            </a:r>
          </a:p>
        </p:txBody>
      </p:sp>
      <p:sp>
        <p:nvSpPr>
          <p:cNvPr id="5" name="Oval 4"/>
          <p:cNvSpPr/>
          <p:nvPr/>
        </p:nvSpPr>
        <p:spPr>
          <a:xfrm>
            <a:off x="7955279" y="960120"/>
            <a:ext cx="1234440" cy="1234440"/>
          </a:xfrm>
          <a:prstGeom prst="ellipse">
            <a:avLst/>
          </a:prstGeom>
          <a:solidFill>
            <a:srgbClr val="FF4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2011680"/>
            <a:ext cx="1508760" cy="1508760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379476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4663440"/>
            <a:ext cx="777240" cy="7772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Expo + Supabase app with feed, bets, resolution, leaderboard, comments,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Content automation creates curator drafts from free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Next gap is not code; it is beachhead launch + analytics + legal polish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4D9D"/>
                </a:solidFill>
                <a:latin typeface="Aptos Display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1A1626"/>
                </a:solidFill>
                <a:latin typeface="Aptos Display"/>
              </a:rPr>
              <a:t>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A7290"/>
                </a:solidFill>
                <a:latin typeface="Aptos"/>
              </a:rPr>
              <a:t>Base case is lean, not fantasy viral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777240"/>
            <a:ext cx="45262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143000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4D9D"/>
                </a:solidFill>
                <a:latin typeface="Aptos Display"/>
              </a:rPr>
              <a:t>BASE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00200"/>
            <a:ext cx="2560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A1626"/>
                </a:solidFill>
                <a:latin typeface="Aptos Display"/>
              </a:rPr>
              <a:t>316.759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10512"/>
            <a:ext cx="914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7A7290"/>
                </a:solidFill>
                <a:latin typeface="Aptos"/>
              </a:rPr>
              <a:t>M36 MAU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606040"/>
            <a:ext cx="2743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4B8A6"/>
                </a:solidFill>
                <a:latin typeface="Aptos Display"/>
              </a:rPr>
              <a:t>R$ 176,243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063240"/>
            <a:ext cx="2377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7A7290"/>
                </a:solidFill>
                <a:latin typeface="Aptos"/>
              </a:rPr>
              <a:t>M36 monthly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977639"/>
            <a:ext cx="29260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B7185"/>
                </a:solidFill>
                <a:latin typeface="Aptos Display"/>
              </a:rPr>
              <a:t>R$ 508,908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434840"/>
            <a:ext cx="2377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7A7290"/>
                </a:solidFill>
                <a:latin typeface="Aptos"/>
              </a:rPr>
              <a:t>36-month cash need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M12: 21,191 MAU; M36: 316,759 MAU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M36 revenue: R$ 176,243/mo; M36 net: R$ 107,742/mo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Base-case 36-month cash need: R$ 508,908 / US$ 96,020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4D9D"/>
                </a:solidFill>
                <a:latin typeface="Aptos Display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1A1626"/>
                </a:solidFill>
                <a:latin typeface="Aptos Display"/>
              </a:rPr>
              <a:t>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A7290"/>
                </a:solidFill>
                <a:latin typeface="Aptos"/>
              </a:rPr>
              <a:t>The defensibility compounds after traction</a:t>
            </a:r>
          </a:p>
        </p:txBody>
      </p:sp>
      <p:sp>
        <p:nvSpPr>
          <p:cNvPr id="5" name="Oval 4"/>
          <p:cNvSpPr/>
          <p:nvPr/>
        </p:nvSpPr>
        <p:spPr>
          <a:xfrm>
            <a:off x="7955279" y="960120"/>
            <a:ext cx="1234440" cy="1234440"/>
          </a:xfrm>
          <a:prstGeom prst="ellipse">
            <a:avLst/>
          </a:prstGeom>
          <a:solidFill>
            <a:srgbClr val="FF4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2011680"/>
            <a:ext cx="1508760" cy="1508760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379476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4663440"/>
            <a:ext cx="777240" cy="7772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Resolved prediction history creates a reputation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Crowd belief data becomes proprietary once dense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Brand + moderation trust matters in a legally sensitive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4D9D"/>
                </a:solidFill>
                <a:latin typeface="Aptos Display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1A1626"/>
                </a:solidFill>
                <a:latin typeface="Aptos Display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A7290"/>
                </a:solidFill>
                <a:latin typeface="Aptos"/>
              </a:rPr>
              <a:t>Known risks and how we reduce them</a:t>
            </a:r>
          </a:p>
        </p:txBody>
      </p:sp>
      <p:sp>
        <p:nvSpPr>
          <p:cNvPr id="5" name="Oval 4"/>
          <p:cNvSpPr/>
          <p:nvPr/>
        </p:nvSpPr>
        <p:spPr>
          <a:xfrm>
            <a:off x="7955279" y="960120"/>
            <a:ext cx="1234440" cy="1234440"/>
          </a:xfrm>
          <a:prstGeom prst="ellipse">
            <a:avLst/>
          </a:prstGeom>
          <a:solidFill>
            <a:srgbClr val="FF4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2011680"/>
            <a:ext cx="1508760" cy="1508760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379476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4663440"/>
            <a:ext cx="777240" cy="7772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Cold start: launch into one dense fandom/event, not all Brazil at once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Legal: opinion-data framing, curator-only supply, moderation, LGPD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1A1626"/>
                </a:solidFill>
                <a:latin typeface="Aptos"/>
              </a:rPr>
              <a:t>• Stale rumors: explicit deadlines and evidence-first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D43B"/>
                </a:solidFill>
                <a:latin typeface="Aptos Display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394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 Display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035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FFD43B"/>
                </a:solidFill>
                <a:latin typeface="Aptos"/>
              </a:rPr>
              <a:t>Fund the validation sprint</a:t>
            </a:r>
          </a:p>
        </p:txBody>
      </p:sp>
      <p:sp>
        <p:nvSpPr>
          <p:cNvPr id="5" name="Oval 4"/>
          <p:cNvSpPr/>
          <p:nvPr/>
        </p:nvSpPr>
        <p:spPr>
          <a:xfrm>
            <a:off x="7955279" y="960120"/>
            <a:ext cx="1234440" cy="1234440"/>
          </a:xfrm>
          <a:prstGeom prst="ellipse">
            <a:avLst/>
          </a:prstGeom>
          <a:solidFill>
            <a:srgbClr val="FF4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2011680"/>
            <a:ext cx="1508760" cy="1508760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379476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4663440"/>
            <a:ext cx="777240" cy="7772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5394960" cy="713232"/>
          </a:xfrm>
          <a:prstGeom prst="roundRect">
            <a:avLst/>
          </a:prstGeom>
          <a:solidFill>
            <a:srgbClr val="1A1626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FFFFF"/>
                </a:solidFill>
                <a:latin typeface="Aptos"/>
              </a:rPr>
              <a:t>• Goal: prove D1/D7 prediction retention and daily betting habit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5394960" cy="713232"/>
          </a:xfrm>
          <a:prstGeom prst="roundRect">
            <a:avLst/>
          </a:prstGeom>
          <a:solidFill>
            <a:srgbClr val="1A1626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FFFFF"/>
                </a:solidFill>
                <a:latin typeface="Aptos"/>
              </a:rPr>
              <a:t>• Use funds for product polish, legal/trust, curation, beachhead marketing,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5394960" cy="713232"/>
          </a:xfrm>
          <a:prstGeom prst="roundRect">
            <a:avLst/>
          </a:prstGeom>
          <a:solidFill>
            <a:srgbClr val="1A1626"/>
          </a:solidFill>
          <a:ln>
            <a:solidFill>
              <a:srgbClr val="F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422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FFFFF"/>
                </a:solidFill>
                <a:latin typeface="Aptos"/>
              </a:rPr>
              <a:t>• Raise after proof: growth round to scale community + Gossip Pulse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7A7290"/>
                </a:solidFill>
                <a:latin typeface="Aptos Display"/>
              </a:rPr>
              <a:t>FOFOCA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